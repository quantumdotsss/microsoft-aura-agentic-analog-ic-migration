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55480" y="146304"/>
            <a:ext cx="201168" cy="201168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8652" y="146304"/>
            <a:ext cx="201168" cy="201168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379476"/>
            <a:ext cx="201168" cy="201168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8652" y="379476"/>
            <a:ext cx="201168" cy="20116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6E6E6E"/>
                </a:solidFill>
              </a:defRPr>
            </a:pPr>
            <a:r>
              <a:t>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"/>
            <a:ext cx="10332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300" b="1">
                <a:solidFill>
                  <a:srgbClr val="000000"/>
                </a:solidFill>
              </a:defRPr>
            </a:pPr>
            <a:r>
              <a:t>AURA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10332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0000"/>
                </a:solidFill>
              </a:defRPr>
            </a:pPr>
            <a:r>
              <a:t>Agentic Retargeting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LangGraph Implementation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218688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4678"/>
                </a:solidFill>
              </a:defRPr>
            </a:pPr>
            <a:r>
              <a:t>Students: Yunbo Wang</a:t>
            </a:r>
          </a:p>
          <a:p>
            <a:pPr>
              <a:spcAft>
                <a:spcPts val="800"/>
              </a:spcAft>
              <a:defRPr sz="1600">
                <a:solidFill>
                  <a:srgbClr val="194678"/>
                </a:solidFill>
              </a:defRPr>
            </a:pPr>
            <a:r>
              <a:t>Company Liaisons: Joe Tostenrude, Yousef Iskander, Ph.D., Richard Paw</a:t>
            </a:r>
          </a:p>
          <a:p>
            <a:pPr>
              <a:spcAft>
                <a:spcPts val="800"/>
              </a:spcAft>
              <a:defRPr sz="1600">
                <a:solidFill>
                  <a:srgbClr val="194678"/>
                </a:solidFill>
              </a:defRPr>
            </a:pPr>
            <a:r>
              <a:t>Faculty Advisor: Dr. Farzad Ahmadkhanlou</a:t>
            </a:r>
          </a:p>
          <a:p>
            <a:pPr>
              <a:spcAft>
                <a:spcPts val="800"/>
              </a:spcAft>
              <a:defRPr sz="1600">
                <a:solidFill>
                  <a:srgbClr val="194678"/>
                </a:solidFill>
              </a:defRPr>
            </a:pPr>
            <a:r>
              <a:t>Date: May 08,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This Deck: Agentic Framework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Built the core LangGraph orchestration for analog netlist migration.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Focus: agent roles, routing logic, Cadence/Ocean tool wrappers, run artifacts.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Not covering model training, GNN decoder, or GLA experiments in this update.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Default mode runs locally without UCI server; Cadence mode is enabled by environment variables.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234440"/>
            <a:ext cx="1828800" cy="82296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</a:defRPr>
            </a:pPr>
            <a:r>
              <a:t>Input</a:t>
            </a:r>
            <a:br/>
            <a:r>
              <a:t>.scs + specs CSV +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1234440"/>
            <a:ext cx="1828800" cy="82296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</a:defRPr>
            </a:pPr>
            <a:r>
              <a:t>LangGraph</a:t>
            </a:r>
            <a:br/>
            <a:r>
              <a:t>multi-agent loop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0" y="1645920"/>
            <a:ext cx="32004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818120" y="2788920"/>
            <a:ext cx="1965960" cy="86868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</a:defRPr>
            </a:pPr>
            <a:r>
              <a:t>Output</a:t>
            </a:r>
            <a:br/>
            <a:r>
              <a:t>final .scs + .ocn + report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823960" y="2057400"/>
            <a:ext cx="1005840" cy="73152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"/>
            <a:ext cx="10771632" cy="59911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LangGraph Runtime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1417320" cy="50292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91919"/>
                </a:solidFill>
              </a:defRPr>
            </a:pPr>
            <a:r>
              <a:t>load_inputs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1188720"/>
            <a:ext cx="1417320" cy="50292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91919"/>
                </a:solidFill>
              </a:defRPr>
            </a:pPr>
            <a:r>
              <a:t>retrieve_kb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188720"/>
            <a:ext cx="1645920" cy="50292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91919"/>
                </a:solidFill>
              </a:defRPr>
            </a:pPr>
            <a:r>
              <a:t>retarget_planner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1417320" cy="50292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91919"/>
                </a:solidFill>
              </a:defRPr>
            </a:pPr>
            <a:r>
              <a:t>rule_engine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188720"/>
            <a:ext cx="1645920" cy="50292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91919"/>
                </a:solidFill>
              </a:defRPr>
            </a:pPr>
            <a:r>
              <a:t>spectre_compile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1188720"/>
            <a:ext cx="1600200" cy="50292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91919"/>
                </a:solidFill>
              </a:defRPr>
            </a:pPr>
            <a:r>
              <a:t>measure / ocean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1444752"/>
            <a:ext cx="384048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1444752"/>
            <a:ext cx="384048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06440" y="1444752"/>
            <a:ext cx="384048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89520" y="1444752"/>
            <a:ext cx="384048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55480" y="1444752"/>
            <a:ext cx="384048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99248" y="2331720"/>
            <a:ext cx="1645920" cy="658368"/>
          </a:xfrm>
          <a:prstGeom prst="roundRect">
            <a:avLst/>
          </a:prstGeom>
          <a:solidFill>
            <a:srgbClr val="FCE4EC"/>
          </a:solidFill>
          <a:ln w="1778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91919"/>
                </a:solidFill>
              </a:defRPr>
            </a:pPr>
            <a:r>
              <a:t>compile_debugger</a:t>
            </a:r>
            <a:br/>
            <a:r>
              <a:t>if Spectre errors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0" y="1700784"/>
            <a:ext cx="0" cy="630936"/>
          </a:xfrm>
          <a:prstGeom prst="line">
            <a:avLst/>
          </a:prstGeom>
          <a:ln w="22860">
            <a:solidFill>
              <a:srgbClr val="C21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629400" y="1700784"/>
            <a:ext cx="1069848" cy="996696"/>
          </a:xfrm>
          <a:prstGeom prst="line">
            <a:avLst/>
          </a:prstGeom>
          <a:ln w="22860">
            <a:solidFill>
              <a:srgbClr val="C21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09160" y="3520440"/>
            <a:ext cx="1737360" cy="54864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1919"/>
                </a:solidFill>
              </a:defRPr>
            </a:pPr>
            <a:r>
              <a:t>performance_analyst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520440"/>
            <a:ext cx="1188720" cy="54864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1919"/>
                </a:solidFill>
              </a:defRPr>
            </a:pPr>
            <a:r>
              <a:t>optimizer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520440"/>
            <a:ext cx="1554480" cy="54864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1919"/>
                </a:solidFill>
              </a:defRPr>
            </a:pPr>
            <a:r>
              <a:t>finalize_outputs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440680" y="1691640"/>
            <a:ext cx="137160" cy="182880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46520" y="3794760"/>
            <a:ext cx="68580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21040" y="3794760"/>
            <a:ext cx="82296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309360" y="1719072"/>
            <a:ext cx="1417319" cy="1801368"/>
          </a:xfrm>
          <a:prstGeom prst="line">
            <a:avLst/>
          </a:prstGeom>
          <a:ln w="22860">
            <a:solidFill>
              <a:srgbClr val="C21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Graph Code: Explicit Routing</a:t>
            </a:r>
          </a:p>
        </p:txBody>
      </p:sp>
      <p:pic>
        <p:nvPicPr>
          <p:cNvPr id="3" name="Picture 2" descr="graph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48354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State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2148840" cy="41148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</a:defRPr>
            </a:pPr>
            <a:r>
              <a:t>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755648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source_scs_path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target_specs_csv_path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target_pdk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user_prompt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143000"/>
            <a:ext cx="2148840" cy="41148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</a:defRPr>
            </a:pPr>
            <a:r>
              <a:t>Retargeting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0168" y="1755648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retarget_plan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draft_scs_path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rule_violations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rule_pass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43000"/>
            <a:ext cx="2148840" cy="41148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</a:defRPr>
            </a:pPr>
            <a: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8" y="1755648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spectre_compile_ok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ocean_script_path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measured_csv_path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compile_errors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143000"/>
            <a:ext cx="2148840" cy="41148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</a:defRPr>
            </a:pPr>
            <a:r>
              <a:t>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9448" y="1755648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specs_met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failed_specs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optimization_actions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t>final_scs_path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9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F5F5F"/>
                </a:solidFill>
              </a:defRPr>
            </a:pPr>
            <a:r>
              <a:t>The graph passes one TypedDict state across every agent and tool node.</a:t>
            </a:r>
          </a:p>
          <a:p>
            <a:pPr>
              <a:spcAft>
                <a:spcPts val="800"/>
              </a:spcAft>
              <a:defRPr sz="1800">
                <a:solidFill>
                  <a:srgbClr val="5F5F5F"/>
                </a:solidFill>
              </a:defRPr>
            </a:pPr>
            <a:r>
              <a:t>All generated files are also registered in `artifacts` for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Phase 1: Netlist Retargeting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Reads source Spectre netlist and target specs CSV.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Builds a first-pass retarget plan from local PDK presets and examples.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Rewrites model include, MOS model names, default bias variables, and target L/W constraints.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Rule engine checks model mapping, MOS pin count, min length/width, and required design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1645920" cy="86868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45nm source</a:t>
            </a:r>
            <a:br/>
            <a:r>
              <a:t>nmos / pmos</a:t>
            </a:r>
            <a:br/>
            <a:r>
              <a:t>5V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234440"/>
            <a:ext cx="2057400" cy="86868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1919"/>
                </a:solidFill>
              </a:defRPr>
            </a:pPr>
            <a:r>
              <a:t>Target PDK preset</a:t>
            </a:r>
            <a:br/>
            <a:r>
              <a:t>ptm22_lp / gpdk045 / asap7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46720" y="1664208"/>
            <a:ext cx="41148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60920" y="2926080"/>
            <a:ext cx="2148840" cy="105156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1919"/>
                </a:solidFill>
              </a:defRPr>
            </a:pPr>
            <a:r>
              <a:t>Draft .scs</a:t>
            </a:r>
            <a:br/>
            <a:r>
              <a:t>22n L</a:t>
            </a:r>
            <a:br/>
            <a:r>
              <a:t>new include</a:t>
            </a:r>
            <a:br/>
            <a:r>
              <a:t>safe bias defaults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430768" y="2103120"/>
            <a:ext cx="1033272" cy="82296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Phase 1 Code: Planner and Rule Gate</a:t>
            </a:r>
          </a:p>
        </p:txBody>
      </p:sp>
      <p:pic>
        <p:nvPicPr>
          <p:cNvPr id="3" name="Picture 2" descr="nodes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48354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Tool Node: Spectre Compile / Debugger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`run_spectre_compile` prepares the real Cadence command and parses logs.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`AURA_DRY_RUN=true` skips external binaries for local development.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When connected to UCI server, set `AURA_DRY_RUN=false` and source Cadence profile.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Compile debugger keeps edits conservative: fix missing params, then route back to rule engine.</a:t>
            </a:r>
          </a:p>
        </p:txBody>
      </p:sp>
      <p:pic>
        <p:nvPicPr>
          <p:cNvPr id="4" name="Picture 3" descr="spectre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4389120" cy="7392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2743200"/>
            <a:ext cx="3886200" cy="822960"/>
          </a:xfrm>
          <a:prstGeom prst="roundRect">
            <a:avLst/>
          </a:prstGeom>
          <a:solidFill>
            <a:srgbClr val="FCE4EC"/>
          </a:solidFill>
          <a:ln w="1778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</a:defRPr>
            </a:pPr>
            <a:r>
              <a:t>No SSH inside the agent</a:t>
            </a:r>
            <a:br/>
            <a:r>
              <a:t>Run locally on UCI Linux/Cadence 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Phase 2: Topology-Aware Ocean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15568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Infers differential amplifier probes: Vin+, Vin-, Vout1, Vout2, VDD, ground.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Chooses analyses from requested metrics: dcOp, ac, transient.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Generates `.ocn` with simulator, modelFile, desVar, analysis, resultsDir, ocnPrint.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Normalizes Spectre values like `10uA`, `0.95V`, `10mV` into Ocean-friendly literals.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097280"/>
            <a:ext cx="1417320" cy="54864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Topology</a:t>
            </a:r>
            <a:br/>
            <a:r>
              <a:t>Detector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097280"/>
            <a:ext cx="1417320" cy="54864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Analysis</a:t>
            </a:r>
            <a:br/>
            <a:r>
              <a:t>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1097280"/>
            <a:ext cx="1234440" cy="54864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Ocean</a:t>
            </a:r>
            <a:br/>
            <a:r>
              <a:t>Writer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38160" y="1371600"/>
            <a:ext cx="27432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29800" y="1371600"/>
            <a:ext cx="27432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ocean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40280"/>
            <a:ext cx="4389120" cy="10369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Phase 3: Performance Optimization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1828800" cy="50292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measured_metrics.csv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1097280"/>
            <a:ext cx="1965960" cy="77724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Performance Analyst</a:t>
            </a:r>
            <a:br/>
            <a:r>
              <a:t>compare specs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143000"/>
            <a:ext cx="1325880" cy="658368"/>
          </a:xfrm>
          <a:prstGeom prst="roundRect">
            <a:avLst/>
          </a:prstGeom>
          <a:solidFill>
            <a:srgbClr val="FCE4EC"/>
          </a:solidFill>
          <a:ln w="1778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Specs Met?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234440"/>
            <a:ext cx="1508760" cy="50292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Final Report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1481328"/>
            <a:ext cx="50292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1481328"/>
            <a:ext cx="59436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481328"/>
            <a:ext cx="205740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2971800"/>
            <a:ext cx="2240280" cy="77724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Optimizer</a:t>
            </a:r>
            <a:br/>
            <a:r>
              <a:t>prioritize failed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71800"/>
            <a:ext cx="1828800" cy="77724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Update .scs</a:t>
            </a:r>
            <a:br/>
            <a:r>
              <a:t>W/L, bias, R/C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715000" y="1810512"/>
            <a:ext cx="594360" cy="1161288"/>
          </a:xfrm>
          <a:prstGeom prst="line">
            <a:avLst/>
          </a:prstGeom>
          <a:ln w="22860">
            <a:solidFill>
              <a:srgbClr val="C21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3364992"/>
            <a:ext cx="502920" cy="0"/>
          </a:xfrm>
          <a:prstGeom prst="line">
            <a:avLst/>
          </a:prstGeom>
          <a:ln w="228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355080" y="1810512"/>
            <a:ext cx="1920240" cy="1161288"/>
          </a:xfrm>
          <a:prstGeom prst="line">
            <a:avLst/>
          </a:prstGeom>
          <a:ln w="22860">
            <a:solidFill>
              <a:srgbClr val="C21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1605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F5F5F"/>
                </a:solidFill>
              </a:defRPr>
            </a:pPr>
            <a:r>
              <a:t>Gain or bandwidth failures tune Rg/Rm.</a:t>
            </a:r>
          </a:p>
          <a:p>
            <a:pPr>
              <a:spcAft>
                <a:spcPts val="800"/>
              </a:spcAft>
              <a:defRPr sz="1900">
                <a:solidFill>
                  <a:srgbClr val="5F5F5F"/>
                </a:solidFill>
              </a:defRPr>
            </a:pPr>
            <a:r>
              <a:t>Power failures reduce ISS/Ibtail.</a:t>
            </a:r>
          </a:p>
          <a:p>
            <a:pPr>
              <a:spcAft>
                <a:spcPts val="800"/>
              </a:spcAft>
              <a:defRPr sz="1900">
                <a:solidFill>
                  <a:srgbClr val="5F5F5F"/>
                </a:solidFill>
              </a:defRPr>
            </a:pPr>
            <a:r>
              <a:t>Output common-mode failures tune Aref/Vb3.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Tooling Code: Metrics and Optimization</a:t>
            </a:r>
          </a:p>
        </p:txBody>
      </p:sp>
      <p:pic>
        <p:nvPicPr>
          <p:cNvPr id="3" name="Picture 2" descr="tools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48354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Agent Code Files</a:t>
            </a:r>
          </a:p>
        </p:txBody>
      </p:sp>
      <p:pic>
        <p:nvPicPr>
          <p:cNvPr id="3" name="Picture 2" descr="fil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5623560" cy="30240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2344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- graph.py: LangGraph topology and conditional routers.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- nodes.py: agent/tool nodes matching the three-stage flow.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- tools.py: netlist parser, PDK presets, rule checks, runner wrappers.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- state.py: shared state contract.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- run_agent.py: reproducible CLI entrypoint.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How To Run The Agent</a:t>
            </a:r>
          </a:p>
        </p:txBody>
      </p:sp>
      <p:pic>
        <p:nvPicPr>
          <p:cNvPr id="3" name="Picture 2" descr="cli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881360" cy="5285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Current Technical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828800" cy="45720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Local KB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912" y="109728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Reads david / csc / TPM / mother_code examples for relevant snippets.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1828800" cy="45720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PDK Presets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1312" y="109728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ptm22_lp, gpdk045, asap7 model names, min geometry, include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39"/>
            <a:ext cx="1828800" cy="4572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Dry Run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2" y="2423159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Develop and demo without Cadence connection; no SSH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39"/>
            <a:ext cx="1828800" cy="457200"/>
          </a:xfrm>
          <a:prstGeom prst="roundRect">
            <a:avLst/>
          </a:prstGeom>
          <a:solidFill>
            <a:srgbClr val="FCE4EC"/>
          </a:solidFill>
          <a:ln w="1778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Cadence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2423159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Spectre/Ocean wrappers use environment variables for UCI server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1828800" cy="457200"/>
          </a:xfrm>
          <a:prstGeom prst="roundRect">
            <a:avLst/>
          </a:prstGeom>
          <a:solidFill>
            <a:srgbClr val="E1F5FE"/>
          </a:solidFill>
          <a:ln w="17780">
            <a:solidFill>
              <a:srgbClr val="005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Artifact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3749039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Every run writes draft .scs, .ocn, logs, metrics CSV, final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03320"/>
            <a:ext cx="1828800" cy="45720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</a:defRPr>
            </a:pPr>
            <a:r>
              <a:t>Loop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3749039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Optimizer sends updates back to rule checks or Ocean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0175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Run `AURA_DRY_RUN=false` on the UCI Cadence Linux host and validate Spectre/Ocean logs.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Replace heuristic retarget planner with LLM + structured RAG over PDK manuals and tuning cases.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Add stronger analog metric extraction: gain, bandwidth, phase margin, power, settling, swing.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Connect Skillbridge/Virtuoso path for schematic-level desVar tuning.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</a:defRPr>
            </a:pPr>
            <a:r>
              <a:t>Later stage: log trajectories for Agent Lightning style policy/router improvement.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99632"/>
            <a:ext cx="12191999" cy="658368"/>
          </a:xfrm>
          <a:prstGeom prst="rect">
            <a:avLst/>
          </a:prstGeom>
          <a:solidFill>
            <a:srgbClr val="006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5996"/>
            <a:ext cx="12191999" cy="3200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219456" y="6364224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84048" y="6391656"/>
            <a:ext cx="329184" cy="256032"/>
          </a:xfrm>
          <a:prstGeom prst="parallelogram">
            <a:avLst/>
          </a:prstGeom>
          <a:solidFill>
            <a:srgbClr val="60B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548640" y="6419088"/>
            <a:ext cx="329184" cy="2560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6254496"/>
            <a:ext cx="347472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UCI Samueli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School of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994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M.Eng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9360"/>
            <a:ext cx="1234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Yunbo</a:t>
            </a:r>
          </a:p>
          <a:p>
            <a:pPr algn="r">
              <a:defRPr sz="1200">
                <a:solidFill>
                  <a:srgbClr val="FFFFFF"/>
                </a:solidFill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— Agentic Retargeting Framework</dc:title>
  <dc:subject>Microsoft × UC Irvine M.Eng Capstone</dc:subject>
  <dc:creator>Yunbo Wang</dc:creator>
  <cp:keywords/>
  <dc:description>generated using python-pptx</dc:description>
  <cp:lastModifiedBy>Yunbo Wang</cp:lastModifiedBy>
  <cp:revision>1</cp:revision>
  <dcterms:created xsi:type="dcterms:W3CDTF">2026-05-08T00:00:00Z</dcterms:created>
  <dcterms:modified xsi:type="dcterms:W3CDTF">2026-05-08T00:00:00Z</dcterms:modified>
  <cp:category/>
</cp:coreProperties>
</file>